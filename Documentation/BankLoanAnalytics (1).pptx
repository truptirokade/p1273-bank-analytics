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56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BB1C8"/>
                </a:solidFill>
              </a:rPr>
              <a:t>DATA ANALYTICS  •  BUSINESS INTELLIGENCE  •  SQL / EXCEL / TABLEAU / POWER BI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Bank Loan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Analytics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C6C2"/>
                </a:solidFill>
              </a:rPr>
              <a:t>Multi-Tool Dashboard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28803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1C8"/>
                </a:solidFill>
              </a:rPr>
              <a:t>A comprehensive data analytics project leveraging SQL, Excel, Tableau, and Power BI to analyse 65,535 loan records — uncovering disbursement patterns, default risks, and revenue drivers across branches and geographies.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4160520"/>
            <a:ext cx="1920240" cy="777240"/>
          </a:xfrm>
          <a:prstGeom prst="rect">
            <a:avLst/>
          </a:prstGeom>
          <a:solidFill>
            <a:srgbClr val="152332"/>
          </a:solidFill>
          <a:ln w="12700">
            <a:solidFill>
              <a:srgbClr val="00C6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C2"/>
                </a:solidFill>
              </a:rPr>
              <a:t>65,535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45354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1C8"/>
                </a:solidFill>
              </a:rPr>
              <a:t>Total Loans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59152" y="4160520"/>
            <a:ext cx="1920240" cy="777240"/>
          </a:xfrm>
          <a:prstGeom prst="rect">
            <a:avLst/>
          </a:prstGeom>
          <a:solidFill>
            <a:srgbClr val="152332"/>
          </a:solidFill>
          <a:ln w="12700">
            <a:solidFill>
              <a:srgbClr val="00C6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C2"/>
                </a:solidFill>
              </a:rPr>
              <a:t>₹750.98M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59152" y="45354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1C8"/>
                </a:solidFill>
              </a:rPr>
              <a:t>Funded Amount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43984" y="4160520"/>
            <a:ext cx="1920240" cy="777240"/>
          </a:xfrm>
          <a:prstGeom prst="rect">
            <a:avLst/>
          </a:prstGeom>
          <a:solidFill>
            <a:srgbClr val="152332"/>
          </a:solidFill>
          <a:ln w="12700">
            <a:solidFill>
              <a:srgbClr val="00C6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C2"/>
                </a:solidFill>
              </a:rPr>
              <a:t>₹156.51M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43984" y="45354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1C8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28816" y="4160520"/>
            <a:ext cx="1920240" cy="777240"/>
          </a:xfrm>
          <a:prstGeom prst="rect">
            <a:avLst/>
          </a:prstGeom>
          <a:solidFill>
            <a:srgbClr val="152332"/>
          </a:solidFill>
          <a:ln w="12700">
            <a:solidFill>
              <a:srgbClr val="00C6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4187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6C2"/>
                </a:solidFill>
              </a:rPr>
              <a:t>1.56%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28816" y="453542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B1C8"/>
                </a:solidFill>
              </a:rPr>
              <a:t>Default Rate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60720" y="365760"/>
            <a:ext cx="3200400" cy="36576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C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65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200" dirty="0">
                <a:solidFill>
                  <a:srgbClr val="00C6C2"/>
                </a:solidFill>
              </a:rPr>
              <a:t>DASHBOARD PREVIEW</a:t>
            </a:r>
            <a:endParaRPr lang="en-US" sz="7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11982" y="749808"/>
            <a:ext cx="3103418" cy="1536192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0720" y="2350008"/>
            <a:ext cx="3154680" cy="1655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1C8"/>
                </a:solidFill>
              </a:rPr>
              <a:t>What this project is about and what tools were used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011680" cy="2834640"/>
          </a:xfrm>
          <a:prstGeom prst="rect">
            <a:avLst/>
          </a:prstGeom>
          <a:solidFill>
            <a:srgbClr val="152332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201168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MySQL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</a:rPr>
              <a:t>Data extraction and KPI computation using structured queries across the loans database.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2011680" cy="2834640"/>
          </a:xfrm>
          <a:prstGeom prst="rect">
            <a:avLst/>
          </a:prstGeom>
          <a:solidFill>
            <a:srgbClr val="152332"/>
          </a:solidFill>
          <a:ln w="19050">
            <a:solidFill>
              <a:srgbClr val="2173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143000"/>
            <a:ext cx="2011680" cy="34747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Excel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42032" y="1581912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</a:rPr>
              <a:t>Interactive pivot-table dashboard with slicers for filtering by state, purpose &amp; date.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2011680" cy="2834640"/>
          </a:xfrm>
          <a:prstGeom prst="rect">
            <a:avLst/>
          </a:prstGeom>
          <a:solidFill>
            <a:srgbClr val="152332"/>
          </a:solidFill>
          <a:ln w="19050">
            <a:solidFill>
              <a:srgbClr val="E976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143000"/>
            <a:ext cx="2011680" cy="34747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Tableau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18304" y="1581912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</a:rPr>
              <a:t>Visual analytics with map-based, trend, and distribution charts for deep exploration.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1143000"/>
            <a:ext cx="2011680" cy="2834640"/>
          </a:xfrm>
          <a:prstGeom prst="rect">
            <a:avLst/>
          </a:prstGeom>
          <a:solidFill>
            <a:srgbClr val="152332"/>
          </a:solidFill>
          <a:ln w="19050">
            <a:solidFill>
              <a:srgbClr val="F2C8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1143000"/>
            <a:ext cx="2011680" cy="34747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Power BI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94576" y="1581912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</a:rPr>
              <a:t>Executive dashboard with real-time slicers, gradient visuals, and KPI scorecards.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2011680" cy="777240"/>
          </a:xfrm>
          <a:prstGeom prst="rect">
            <a:avLst/>
          </a:prstGeom>
          <a:solidFill>
            <a:srgbClr val="1B2A3B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C2"/>
                </a:solidFill>
              </a:rPr>
              <a:t>65,535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1C8"/>
                </a:solidFill>
              </a:rPr>
              <a:t>Total Loan Records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50592" y="4160520"/>
            <a:ext cx="2011680" cy="777240"/>
          </a:xfrm>
          <a:prstGeom prst="rect">
            <a:avLst/>
          </a:prstGeom>
          <a:solidFill>
            <a:srgbClr val="1B2A3B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C2"/>
                </a:solidFill>
              </a:rPr>
              <a:t>18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450592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1C8"/>
                </a:solidFill>
              </a:rPr>
              <a:t>States Covered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26864" y="4160520"/>
            <a:ext cx="2011680" cy="777240"/>
          </a:xfrm>
          <a:prstGeom prst="rect">
            <a:avLst/>
          </a:prstGeom>
          <a:solidFill>
            <a:srgbClr val="1B2A3B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C2"/>
                </a:solidFill>
              </a:rPr>
              <a:t>2016–2020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26864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1C8"/>
                </a:solidFill>
              </a:rPr>
              <a:t>Time Period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03136" y="4160520"/>
            <a:ext cx="2011680" cy="777240"/>
          </a:xfrm>
          <a:prstGeom prst="rect">
            <a:avLst/>
          </a:prstGeom>
          <a:solidFill>
            <a:srgbClr val="1B2A3B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C2"/>
                </a:solidFill>
              </a:rPr>
              <a:t>4 Tools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03136" y="454456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B1C8"/>
                </a:solidFill>
              </a:rPr>
              <a:t>Tech Stack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1C8"/>
                </a:solidFill>
              </a:rPr>
              <a:t>Interactive pivot-table based analytics with slicers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5669280" cy="3840480"/>
          </a:xfrm>
          <a:prstGeom prst="rect">
            <a:avLst/>
          </a:prstGeom>
          <a:solidFill>
            <a:srgbClr val="1B2A3B"/>
          </a:solidFill>
          <a:ln w="12700">
            <a:solidFill>
              <a:srgbClr val="21734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6888" y="1051560"/>
            <a:ext cx="557784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005840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21734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005840"/>
            <a:ext cx="64008" cy="71323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0424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E8B4"/>
                </a:solidFill>
              </a:rPr>
              <a:t>KPI Metrics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72200" y="1280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Total funded ₹750.98M, 65,535 loans, 10.84% delinquency rate, 1.56% default rate, 16,921 unverified loans.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035040" y="1773936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2173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773936"/>
            <a:ext cx="64008" cy="71323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8105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E8B4"/>
                </a:solidFill>
              </a:rPr>
              <a:t>Disbursement Trend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Monthly line chart from 2016–2020; peak disbursements in early 2019 exceeding ₹100M.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035040" y="2542032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21734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542032"/>
            <a:ext cx="64008" cy="71323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2578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E8B4"/>
                </a:solidFill>
              </a:rPr>
              <a:t>Product-wise Loan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72200" y="281635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Home Loans dominate at ₹278M, followed by Services (₹156M) and Business (₹83M).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035040" y="3310128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21734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310128"/>
            <a:ext cx="64008" cy="71323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33467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E8B4"/>
                </a:solidFill>
              </a:rPr>
              <a:t>State &amp; Branch View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72200" y="3584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Uttar Pradesh leads state-wise at ₹138M. Branch performance split by fees, interest, and payment.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035040" y="4078224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21734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4078224"/>
            <a:ext cx="64008" cy="71323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27" name="Text 24"/>
          <p:cNvSpPr/>
          <p:nvPr/>
        </p:nvSpPr>
        <p:spPr>
          <a:xfrm>
            <a:off x="6172200" y="41148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DE8B4"/>
                </a:solidFill>
              </a:rPr>
              <a:t>Demographics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72200" y="43525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Age group 26–35 is the largest borrower segment. Religion-wise: Hindu borrowers 74.98% of total.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Tableau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1C8"/>
                </a:solidFill>
              </a:rPr>
              <a:t>Visual analytics with maps, trends, and distribution charts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5669280" cy="3840480"/>
          </a:xfrm>
          <a:prstGeom prst="rect">
            <a:avLst/>
          </a:prstGeom>
          <a:solidFill>
            <a:srgbClr val="1B2A3B"/>
          </a:solidFill>
          <a:ln w="12700">
            <a:solidFill>
              <a:srgbClr val="E9762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6888" y="1051560"/>
            <a:ext cx="557784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005840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E976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005840"/>
            <a:ext cx="64008" cy="71323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0424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7A"/>
                </a:solidFill>
              </a:rPr>
              <a:t>KPI Scorecard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72200" y="1280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₹750.98M funded, 65,535 total loans, ₹814.91M collected, ₹155.29M interest, ₹156.51M revenue.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035040" y="1773936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E976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773936"/>
            <a:ext cx="64008" cy="71323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8105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7A"/>
                </a:solidFill>
              </a:rPr>
              <a:t>Disbursement Trend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Monthly trend chart showing peak in February (₹149.94M), with dips mid-year — useful for seasonal planning.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035040" y="2542032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E976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542032"/>
            <a:ext cx="64008" cy="71323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2578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7A"/>
                </a:solidFill>
              </a:rPr>
              <a:t>State-Wise Map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72200" y="281635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Geographic heat map across India highlights UP, Bihar, Haryana, Punjab and Rajasthan as top lending states.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035040" y="3310128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E976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310128"/>
            <a:ext cx="64008" cy="71323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33467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7A"/>
                </a:solidFill>
              </a:rPr>
              <a:t>Grade-wise Analysis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72200" y="3584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Grade B dominates. Distribution reveals risk concentration in unrated (Unknown) loan segments.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035040" y="4078224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E976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4078224"/>
            <a:ext cx="64008" cy="71323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27" name="Text 24"/>
          <p:cNvSpPr/>
          <p:nvPr/>
        </p:nvSpPr>
        <p:spPr>
          <a:xfrm>
            <a:off x="6172200" y="41148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BBF7A"/>
                </a:solidFill>
              </a:rPr>
              <a:t>Loan Status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72200" y="43525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36,351 Active loans, 15,850 Fully Paid. NPA count: 530. Write-offs: 85 — risk indicators at a glance.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— Data Extraction &amp; KPI Computation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1C8"/>
                </a:solidFill>
              </a:rPr>
              <a:t>MySQL queries written to calculate all key metrics from the loan_analysis database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4206240" cy="3840480"/>
          </a:xfrm>
          <a:prstGeom prst="rect">
            <a:avLst/>
          </a:prstGeom>
          <a:solidFill>
            <a:srgbClr val="152332"/>
          </a:solidFill>
          <a:ln w="12700">
            <a:solidFill>
              <a:srgbClr val="00C6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0058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C2"/>
                </a:solidFill>
              </a:rPr>
              <a:t>Queries 1–3: Loan KPIs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6888" y="1325880"/>
            <a:ext cx="4114800" cy="3474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005840"/>
            <a:ext cx="4297680" cy="3840480"/>
          </a:xfrm>
          <a:prstGeom prst="rect">
            <a:avLst/>
          </a:prstGeom>
          <a:solidFill>
            <a:srgbClr val="152332"/>
          </a:solidFill>
          <a:ln w="12700">
            <a:solidFill>
              <a:srgbClr val="00C6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0058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C2"/>
                </a:solidFill>
              </a:rPr>
              <a:t>Queries 6–7: Branch &amp; State Analysis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325880"/>
            <a:ext cx="4206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1C8"/>
                </a:solidFill>
              </a:rPr>
              <a:t>Executive-grade interactive dashboard with slicers and KPI cards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005840"/>
            <a:ext cx="5669280" cy="3840480"/>
          </a:xfrm>
          <a:prstGeom prst="rect">
            <a:avLst/>
          </a:prstGeom>
          <a:solidFill>
            <a:srgbClr val="1B2A3B"/>
          </a:solidFill>
          <a:ln w="12700">
            <a:solidFill>
              <a:srgbClr val="F2C81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6888" y="1051560"/>
            <a:ext cx="557784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005840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F2C81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1005840"/>
            <a:ext cx="64008" cy="71323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10424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AE17A"/>
                </a:solidFill>
              </a:rPr>
              <a:t>Top KPI Strip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72200" y="12801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732.70M funded, 65.54K loans, ₹814.90M collected, ₹750.97M distributed, ₹155.29M total interest.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035040" y="1773936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F2C81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773936"/>
            <a:ext cx="64008" cy="71323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18105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AE17A"/>
                </a:solidFill>
              </a:rPr>
              <a:t>Disbursement &amp; Branch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7220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Monthly dual-axis chart (amount + count) and branch performance revenue breakdown.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035040" y="2542032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F2C81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542032"/>
            <a:ext cx="64008" cy="71323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25786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AE17A"/>
                </a:solidFill>
              </a:rPr>
              <a:t>Product-wise Loans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72200" y="281635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Home Loans lead at ₹278M. Horizontal bar chart for quick product comparison.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035040" y="3310128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F2C81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3310128"/>
            <a:ext cx="64008" cy="71323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33467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AE17A"/>
                </a:solidFill>
              </a:rPr>
              <a:t>Risk Indicators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72200" y="35844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1,020 defaults, 7,106 delinquent clients, 10.84% delinquency rate — all visible as KPI cards.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035040" y="4078224"/>
            <a:ext cx="2926080" cy="713232"/>
          </a:xfrm>
          <a:prstGeom prst="rect">
            <a:avLst/>
          </a:prstGeom>
          <a:solidFill>
            <a:srgbClr val="152332"/>
          </a:solidFill>
          <a:ln w="6350">
            <a:solidFill>
              <a:srgbClr val="F2C81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4078224"/>
            <a:ext cx="64008" cy="71323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27" name="Text 24"/>
          <p:cNvSpPr/>
          <p:nvPr/>
        </p:nvSpPr>
        <p:spPr>
          <a:xfrm>
            <a:off x="6172200" y="41148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AE17A"/>
                </a:solidFill>
              </a:rPr>
              <a:t>Demographic Breakdown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72200" y="43525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EDF2"/>
                </a:solidFill>
              </a:rPr>
              <a:t>Religion-wise, age-wise, and loan maturity distribution — drill-down ready via slicers.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1C8"/>
                </a:solidFill>
              </a:rPr>
              <a:t>What the data reveals across all dashboards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251960" cy="1261872"/>
          </a:xfrm>
          <a:prstGeom prst="rect">
            <a:avLst/>
          </a:prstGeom>
          <a:solidFill>
            <a:srgbClr val="152332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425196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088136"/>
            <a:ext cx="347472" cy="25603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0881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0881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C2"/>
                </a:solidFill>
              </a:rPr>
              <a:t>Home Loans Dominate Portfolio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4356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</a:rPr>
              <a:t>At ₹278M, home loans account for the largest loan product segment, nearly 2x the next category (Services ₹156M). Strategy should focus on home loan risk management.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251960" cy="1261872"/>
          </a:xfrm>
          <a:prstGeom prst="rect">
            <a:avLst/>
          </a:prstGeom>
          <a:solidFill>
            <a:srgbClr val="152332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51560"/>
            <a:ext cx="425196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088136"/>
            <a:ext cx="347472" cy="25603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881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10881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C2"/>
                </a:solidFill>
              </a:rPr>
              <a:t>2019 Was Peak Disbursement Year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14356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</a:rPr>
              <a:t>Disbursements peaked dramatically in early 2019 (₹149.94M in a single month), followed by a sharp decline — suggesting a policy change or market event worth investigating.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4251960" cy="1261872"/>
          </a:xfrm>
          <a:prstGeom prst="rect">
            <a:avLst/>
          </a:prstGeom>
          <a:solidFill>
            <a:srgbClr val="152332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423160"/>
            <a:ext cx="425196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459736"/>
            <a:ext cx="347472" cy="25603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4597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459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C2"/>
                </a:solidFill>
              </a:rPr>
              <a:t>Delinquency Is a Material Risk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28072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</a:rPr>
              <a:t>7,106 delinquent clients and a 10.84% delinquency rate indicate portfolio health concerns. 16,921 loans are unverified — a credit risk that needs immediate attention.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423160"/>
            <a:ext cx="4251960" cy="1261872"/>
          </a:xfrm>
          <a:prstGeom prst="rect">
            <a:avLst/>
          </a:prstGeom>
          <a:solidFill>
            <a:srgbClr val="152332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423160"/>
            <a:ext cx="425196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459736"/>
            <a:ext cx="347472" cy="25603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4597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6360" y="2459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C2"/>
                </a:solidFill>
              </a:rPr>
              <a:t>Northern India Drives Volume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28072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</a:rPr>
              <a:t>Uttar Pradesh (₹138M), Bihar (₹96M), and Haryana (₹81M) lead state-wise. Concentrating branch resources in these states would maximise ROI.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794760"/>
            <a:ext cx="4251960" cy="1261872"/>
          </a:xfrm>
          <a:prstGeom prst="rect">
            <a:avLst/>
          </a:prstGeom>
          <a:solidFill>
            <a:srgbClr val="152332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794760"/>
            <a:ext cx="425196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3831336"/>
            <a:ext cx="347472" cy="25603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8313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831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C2"/>
                </a:solidFill>
              </a:rPr>
              <a:t>26–35 Age Group is Core Borrower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1788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</a:rPr>
              <a:t>23,592 borrowers (largest segment) are aged 26–35, followed by 26–45 at 20,648. Products and credit scoring models should be calibrated for this demographic.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794760"/>
            <a:ext cx="4251960" cy="1261872"/>
          </a:xfrm>
          <a:prstGeom prst="rect">
            <a:avLst/>
          </a:prstGeom>
          <a:solidFill>
            <a:srgbClr val="152332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794760"/>
            <a:ext cx="425196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831336"/>
            <a:ext cx="347472" cy="25603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313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06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66360" y="38313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6C2"/>
                </a:solidFill>
              </a:rPr>
              <a:t>Grade B Dominates Loan Book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417880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</a:rPr>
              <a:t>Grade B holds the largest active loan amount. Unknown/ungraded loans are a risk flag — improving loan grading coverage could improve portfolio quality scoring.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228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Next Steps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1C8"/>
                </a:solidFill>
              </a:rPr>
              <a:t>What we built  •  What we found  •  Where to go next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896112"/>
          </a:xfrm>
          <a:prstGeom prst="rect">
            <a:avLst/>
          </a:prstGeom>
          <a:solidFill>
            <a:srgbClr val="152332"/>
          </a:solidFill>
          <a:ln w="6350">
            <a:solidFill>
              <a:srgbClr val="00C6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51560"/>
            <a:ext cx="640080" cy="896112"/>
          </a:xfrm>
          <a:prstGeom prst="rect">
            <a:avLst/>
          </a:prstGeom>
          <a:solidFill>
            <a:srgbClr val="00C6C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51560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1247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Multi-Tool Data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417320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1C8"/>
                </a:solidFill>
              </a:rPr>
              <a:t>Queried and aggregated 65,535 loan records in MySQL across 7 key metric dimensions. Exported clean datasets into Excel, Tableau, and Power BI for cross-platform validation.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95360" cy="896112"/>
          </a:xfrm>
          <a:prstGeom prst="rect">
            <a:avLst/>
          </a:prstGeom>
          <a:solidFill>
            <a:srgbClr val="152332"/>
          </a:solidFill>
          <a:ln w="6350">
            <a:solidFill>
              <a:srgbClr val="2173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39112"/>
            <a:ext cx="640080" cy="896112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39112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5840" y="21122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Three Dashboards Built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404872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1C8"/>
                </a:solidFill>
              </a:rPr>
              <a:t>Delivered Excel (pivot slicers), Tableau (geographic + trend), and Power BI (interactive KPI board) dashboards — each offering a different analytical lens on the same dataset.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26664"/>
            <a:ext cx="8595360" cy="896112"/>
          </a:xfrm>
          <a:prstGeom prst="rect">
            <a:avLst/>
          </a:prstGeom>
          <a:solidFill>
            <a:srgbClr val="152332"/>
          </a:solidFill>
          <a:ln w="6350">
            <a:solidFill>
              <a:srgbClr val="E976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26664"/>
            <a:ext cx="640080" cy="896112"/>
          </a:xfrm>
          <a:prstGeom prst="rect">
            <a:avLst/>
          </a:prstGeom>
          <a:solidFill>
            <a:srgbClr val="E97627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026664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099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Findings Surfaced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92424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1C8"/>
                </a:solidFill>
              </a:rPr>
              <a:t>10.84% delinquency rate and 16,921 unverified loans are key red flags. Recommended targeted verification campaigns and stricter credit scoring in high-delinquency segments.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014216"/>
            <a:ext cx="8595360" cy="896112"/>
          </a:xfrm>
          <a:prstGeom prst="rect">
            <a:avLst/>
          </a:prstGeom>
          <a:solidFill>
            <a:srgbClr val="152332"/>
          </a:solidFill>
          <a:ln w="6350">
            <a:solidFill>
              <a:srgbClr val="F2C8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4014216"/>
            <a:ext cx="640080" cy="896112"/>
          </a:xfrm>
          <a:prstGeom prst="rect">
            <a:avLst/>
          </a:prstGeom>
          <a:solidFill>
            <a:srgbClr val="F2C811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014216"/>
            <a:ext cx="640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5840" y="4087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Recommended Next Steps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379976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1C8"/>
                </a:solidFill>
              </a:rPr>
              <a:t>Automate data refresh pipelines, implement predictive default models using ML, and integrate real-time branch data feeds for a live executive dashboard.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908</Words>
  <Application>Microsoft Office PowerPoint</Application>
  <PresentationFormat>On-screen Show (16:9)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Data Analytics</dc:title>
  <dc:subject>PptxGenJS Presentation</dc:subject>
  <dc:creator>PptxGenJS</dc:creator>
  <cp:lastModifiedBy>anil mattipa</cp:lastModifiedBy>
  <cp:revision>2</cp:revision>
  <dcterms:created xsi:type="dcterms:W3CDTF">2026-05-20T12:58:00Z</dcterms:created>
  <dcterms:modified xsi:type="dcterms:W3CDTF">2026-05-20T17:38:51Z</dcterms:modified>
</cp:coreProperties>
</file>